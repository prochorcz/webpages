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VIGRE  ·  AUGUST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96596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Studies for the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Project Wave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9776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hands-on help on the projects starting now — and, growing out of that work, one lasting way of doing feasibility studies. Two streams, one goal.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5623560"/>
            <a:ext cx="324612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5623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DRAFT — FOR INTERNAL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SITUATION &amp;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wave of projects is starting — feasibility can't keep up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916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of new projects are heading for the starting line. Entering the delivery phase without a quality feasibility study puts the investment at risk: gaps in scope, cost, capacity and risk surface only when changing course is already expensive.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06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feasibility stage is the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inexpensive decision point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one moment where an initiative can still be confirmed, reshaped or stopped at the cost of a study rather than the cost of delivery.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GOALS, SERVED TOGETHER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3840480"/>
            <a:ext cx="5317236" cy="1600200"/>
          </a:xfrm>
          <a:prstGeom prst="roundRect">
            <a:avLst>
              <a:gd name="adj" fmla="val 5143"/>
            </a:avLst>
          </a:prstGeom>
          <a:solidFill>
            <a:srgbClr val="EEF3FB"/>
          </a:solidFill>
          <a:ln w="9525">
            <a:solidFill>
              <a:srgbClr val="DCE6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40965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99032" y="4041648"/>
            <a:ext cx="43113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starting now get feasibility studies in decision quality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399032" y="4773168"/>
            <a:ext cx="43113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immediate help where the pressure is: hands-on support on selected projects at the start of the wave — no lengthy analysis phase before help arrives.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7356" y="3840480"/>
            <a:ext cx="5317236" cy="1600200"/>
          </a:xfrm>
          <a:prstGeom prst="roundRect">
            <a:avLst>
              <a:gd name="adj" fmla="val 5143"/>
            </a:avLst>
          </a:prstGeom>
          <a:solidFill>
            <a:srgbClr val="EEF3FB"/>
          </a:solidFill>
          <a:ln w="9525">
            <a:solidFill>
              <a:srgbClr val="DCE6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3388" y="40965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3388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82028" y="4041648"/>
            <a:ext cx="43113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VigRe builds a lasting capability to do this itself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082028" y="4773168"/>
            <a:ext cx="43113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real work grows one shared standard — content, roles, decision gate — so every future study is done uniformly, by VigRe's own teams.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 outlook: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studies follow one standard they become comparable across initiatives — over future planning cycles this enables better portfolio prioritisation and more informed allocation of funds. No change to the current planning process is required.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streams, one system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start with a methodology binder. We start in the field — and let the standard grow out of what the real work teaches us.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4892040" cy="34290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04872"/>
            <a:ext cx="2331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048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1 · STARTS IMMEDIATELY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6207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feasibility work on live projects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47288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inside the teams of 1–2 selected projects at the start of the wave — sleeves rolled up, sharing the workload: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what each study must answer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 expert workshops &amp; interviews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pen — structure, draft, write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assumptions, hunt for gaps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decision-quality gate materials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4919472"/>
            <a:ext cx="4343400" cy="475488"/>
          </a:xfrm>
          <a:prstGeom prst="roundRect">
            <a:avLst>
              <a:gd name="adj" fmla="val 11538"/>
            </a:avLst>
          </a:prstGeom>
          <a:solidFill>
            <a:srgbClr val="2B3878"/>
          </a:solidFill>
          <a:ln w="9525">
            <a:solidFill>
              <a:srgbClr val="CADCFC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005840" y="49194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 feasibility studies  +  gap log (practice vs. good practice)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96128" y="3474720"/>
            <a:ext cx="996696" cy="502920"/>
          </a:xfrm>
          <a:prstGeom prst="rightArrow">
            <a:avLst/>
          </a:prstGeom>
          <a:solidFill>
            <a:srgbClr val="31408F"/>
          </a:solidFill>
          <a:ln/>
        </p:spPr>
      </p:sp>
      <p:sp>
        <p:nvSpPr>
          <p:cNvPr id="13" name="Shape 11"/>
          <p:cNvSpPr/>
          <p:nvPr/>
        </p:nvSpPr>
        <p:spPr>
          <a:xfrm>
            <a:off x="6702552" y="2148840"/>
            <a:ext cx="4892040" cy="3429000"/>
          </a:xfrm>
          <a:prstGeom prst="roundRect">
            <a:avLst>
              <a:gd name="adj" fmla="val 2667"/>
            </a:avLst>
          </a:prstGeom>
          <a:solidFill>
            <a:srgbClr val="EEF3FB"/>
          </a:solidFill>
          <a:ln w="12700">
            <a:solidFill>
              <a:srgbClr val="D3DF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6872" y="2404872"/>
            <a:ext cx="233172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76872" y="24048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2 · IN THE SLIPSTREAM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976872" y="286207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standard, owned by VigRe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76872" y="3447288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a joint review of the gap log after the first pilot study — codifying what proved to work: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stage definition — what it is / is not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every study must examine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model, roles &amp; decision rights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Templates: study, decision paper, checklists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for study leads &amp; contributors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76872" y="4919472"/>
            <a:ext cx="43434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31408F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7114032" y="49194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  </a:t>
            </a:r>
            <a:pPr indent="0" marL="0">
              <a:buNone/>
            </a:pPr>
            <a:r>
              <a:rPr lang="en-US" sz="100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practice-proven standard, templates and trained people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541264" y="4087368"/>
            <a:ext cx="1106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LOG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" y="5852160"/>
            <a:ext cx="11000232" cy="685800"/>
          </a:xfrm>
          <a:prstGeom prst="roundRect">
            <a:avLst>
              <a:gd name="adj" fmla="val 10667"/>
            </a:avLst>
          </a:prstGeom>
          <a:solidFill>
            <a:srgbClr val="F7FAFE"/>
          </a:solidFill>
          <a:ln w="12700">
            <a:solidFill>
              <a:srgbClr val="3140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8521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project wave benefits: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support goes where it changes the most — projects at or near the start. The standard, templates and training then equip every team across the wave to produce feasibility studies uniformly and on their own.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STREAM 1 IN DETAIL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 in the dirt, not an advisory board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review committee, not remote quality assurance. Our consultant works inside the project team as extra capacity and extra know-how — so the study gets done, and done well, without exhausting the team.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514600"/>
            <a:ext cx="5317236" cy="1691640"/>
          </a:xfrm>
          <a:prstGeom prst="roundRect">
            <a:avLst>
              <a:gd name="adj" fmla="val 4865"/>
            </a:avLst>
          </a:prstGeom>
          <a:solidFill>
            <a:srgbClr val="EEF3FB"/>
          </a:solidFill>
          <a:ln w="9525">
            <a:solidFill>
              <a:srgbClr val="DCE6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788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770632"/>
            <a:ext cx="4311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the assignment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200400"/>
            <a:ext cx="4311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sponsor and the team we pin down what exactly the study must answer, which options are on the table, who the experts are — the step where most studies silently go wrong.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77356" y="2514600"/>
            <a:ext cx="5317236" cy="1691640"/>
          </a:xfrm>
          <a:prstGeom prst="roundRect">
            <a:avLst>
              <a:gd name="adj" fmla="val 4865"/>
            </a:avLst>
          </a:prstGeom>
          <a:solidFill>
            <a:srgbClr val="EEF3FB"/>
          </a:solidFill>
          <a:ln w="9525">
            <a:solidFill>
              <a:srgbClr val="DCE6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3388" y="2788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3388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54596" y="2770632"/>
            <a:ext cx="4311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the workload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54596" y="3200400"/>
            <a:ext cx="4311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facilitate the workshops and interviews, provide the frame for cost and capacity views, and take on the drafting and writing. The team supplies business knowledge and numbers.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4480560"/>
            <a:ext cx="5317236" cy="1691640"/>
          </a:xfrm>
          <a:prstGeom prst="roundRect">
            <a:avLst>
              <a:gd name="adj" fmla="val 4865"/>
            </a:avLst>
          </a:prstGeom>
          <a:solidFill>
            <a:srgbClr val="EEF3FB"/>
          </a:solidFill>
          <a:ln w="9525">
            <a:solidFill>
              <a:srgbClr val="DCE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47548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36592"/>
            <a:ext cx="4311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challenge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166360"/>
            <a:ext cx="4311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 stress-testing of assumptions: forgotten run costs, unconfirmed capacities, ignored dependencies — the questions a busy internal team rarely gets to ask itself.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7356" y="4480560"/>
            <a:ext cx="5317236" cy="1691640"/>
          </a:xfrm>
          <a:prstGeom prst="roundRect">
            <a:avLst>
              <a:gd name="adj" fmla="val 4865"/>
            </a:avLst>
          </a:prstGeom>
          <a:solidFill>
            <a:srgbClr val="EEF3FB"/>
          </a:solidFill>
          <a:ln w="9525">
            <a:solidFill>
              <a:srgbClr val="DCE6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3388" y="47548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3388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54596" y="4736592"/>
            <a:ext cx="4311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Decision-quality finish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054596" y="5166360"/>
            <a:ext cx="4311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and its gate materials are edited into a document management can actually decide on — and the study lead is coached throughout, so the know-how stays in the team.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STREAM 1 IN DETAIL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focus — and where the line is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4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SELECTED PROJECTS, NOT ALL OF THEM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support concentrates where it changes the most: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at or near their start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where the feasibility study still shapes the decision.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already further along have passed that window — for them, the templates, checklists and trained colleagues from Stream 2 are the right vehicle.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teams exist and stay in the lead: we extend their capacity and know-how compared to today — we do not take the work away from them.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55080" y="1645920"/>
            <a:ext cx="52395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3140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9400" y="1828800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GUARDRAILS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121408"/>
            <a:ext cx="46908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carry workload, never the verdict.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content, numbers and the go / no-go decision remain fully VigRe's — our signature is on quality, structure and completeness. And our involvement is designed to shrink: the first study is guided closely; by the next one, the team leads and we support.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3703320"/>
            <a:ext cx="5239512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3886200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LOG — STREAM 1'S SECOND DELIVERABLE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4178808"/>
            <a:ext cx="4690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the studies themselves, a structured record of every point where current practice diverges from good practice — missing inputs, unclear roles, unconfirmed capacities, undefined decision rights. One live list, maintained as we work. It makes the Stream 2 backlog factual: not somebody's opinion, but what the real projects showed.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53949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7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 for the 1–2 pilots: at or near the start · a team willing to work this way · ideally two different types of initiative.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STREAM 2 IN DETAIL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the lessons into VigRe's own standard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2 begins with a single, low-commitment step: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first pilot study, we sit down together over the gap log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decide what is worth fixing systematically. What follows is shaped by that review — the outline below shows the full possible scope.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514600"/>
            <a:ext cx="5271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DELIVERY CONTENT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14600"/>
            <a:ext cx="914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[object Object]</a:t>
            </a:r>
            <a:endParaRPr lang="en-US" sz="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898648"/>
            <a:ext cx="52715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definition — what a feasibility study is and is not at VigRe, which initiatives need one and in what depth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dimensions — the checklist of what every study examines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model and roles — the decision moment and a clear RACI: who sponsors, leads, contributes, decides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and artefacts — study document, gate decision paper, checklists, cost &amp; capacity skeletons — seeded from the pilots, so they fit reality on day one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handover — so the standard is a capability, not a document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323076" y="2514600"/>
            <a:ext cx="5271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VIGRE GAINS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23076" y="2898648"/>
            <a:ext cx="5271516" cy="749808"/>
          </a:xfrm>
          <a:prstGeom prst="roundRect">
            <a:avLst>
              <a:gd name="adj" fmla="val 8537"/>
            </a:avLst>
          </a:prstGeom>
          <a:solidFill>
            <a:srgbClr val="EEF3FB"/>
          </a:solidFill>
          <a:ln w="9525">
            <a:solidFill>
              <a:srgbClr val="DCE6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1676" y="2898648"/>
            <a:ext cx="48143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language, uniform quality  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initiative examined and presented the same way, with clear expectations for everyone involved.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23076" y="3739896"/>
            <a:ext cx="5271516" cy="749808"/>
          </a:xfrm>
          <a:prstGeom prst="roundRect">
            <a:avLst>
              <a:gd name="adj" fmla="val 8537"/>
            </a:avLst>
          </a:prstGeom>
          <a:solidFill>
            <a:srgbClr val="EEF3FB"/>
          </a:solidFill>
          <a:ln w="9525">
            <a:solidFill>
              <a:srgbClr val="DCE6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51676" y="3739896"/>
            <a:ext cx="48143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without external help  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equips all teams across the wave — hands-on support is not needed for every project.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3076" y="4581144"/>
            <a:ext cx="5271516" cy="749808"/>
          </a:xfrm>
          <a:prstGeom prst="roundRect">
            <a:avLst>
              <a:gd name="adj" fmla="val 8537"/>
            </a:avLst>
          </a:prstGeom>
          <a:solidFill>
            <a:srgbClr val="EEF3FB"/>
          </a:solidFill>
          <a:ln w="9525">
            <a:solidFill>
              <a:srgbClr val="DCE6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51676" y="4581144"/>
            <a:ext cx="48143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handover into delivery  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outputs feed straight into project initiation, so approved projects never start from zero.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23076" y="5422392"/>
            <a:ext cx="5271516" cy="749808"/>
          </a:xfrm>
          <a:prstGeom prst="roundRect">
            <a:avLst>
              <a:gd name="adj" fmla="val 8537"/>
            </a:avLst>
          </a:prstGeom>
          <a:solidFill>
            <a:srgbClr val="EEF3FB"/>
          </a:solidFill>
          <a:ln w="9525">
            <a:solidFill>
              <a:srgbClr val="DCE6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51676" y="5422392"/>
            <a:ext cx="48143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that fits  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from VigRe's real projects, not imported from a textbook shelf.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TO VALIDATE TOGETHER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we start from — and questions to verify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outline is built on our current understanding. Before shaping anything further, we want to validate the following openly — corrections are welcome.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29514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295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2402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state is the project wave actually in? 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initiatives are genuinely before or at their start, which are already in flight — and where is the feasibility gap felt most urgently?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13639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136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08152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or two projects are the right pilots? 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criteria: at or near the start, a team willing to work this way, ideally two different types of initiative.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9776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22776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“feasibility study” an established term today? 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departments mean the same thing by it — same scope, outputs and decision rights — or does each initiative interpret it its own way?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81888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764024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internal capacity part of feasibility today? 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internal experts, IT capacity and business involvement assessed before an initiative is committed?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566013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5660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6052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own the standard and the gate? 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role or body is the natural owner of the feasibility standard — and who realistically sits at the gate decision?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03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606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feasibility study is — reference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7490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sources: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appendix reflects generally recognised good practice as described by established international standards — PMI / PMBOK, PRINCE2 and the Stage-Gate® model — not a consultant's private view of what a feasibility study should contain.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and position in the project lifecycle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45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feasibility study (also “initiation study”) is a structured pre-project examination of a proposed initiative, answering one question: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worth doing, in this form, now — and under what conditions?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651760"/>
            <a:ext cx="1995221" cy="777240"/>
          </a:xfrm>
          <a:prstGeom prst="roundRect">
            <a:avLst>
              <a:gd name="adj" fmla="val 9412"/>
            </a:avLst>
          </a:prstGeom>
          <a:solidFill>
            <a:srgbClr val="EEF3FB"/>
          </a:solidFill>
          <a:ln w="9525">
            <a:solidFill>
              <a:srgbClr val="D3DF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651760"/>
            <a:ext cx="1995221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funding intent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534717" y="265176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45613" y="2651760"/>
            <a:ext cx="1995221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5613" y="2651760"/>
            <a:ext cx="1995221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785970" y="265176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6866" y="2651760"/>
            <a:ext cx="1995221" cy="777240"/>
          </a:xfrm>
          <a:prstGeom prst="roundRect">
            <a:avLst>
              <a:gd name="adj" fmla="val 9412"/>
            </a:avLst>
          </a:prstGeom>
          <a:solidFill>
            <a:srgbClr val="31408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96866" y="2651760"/>
            <a:ext cx="1995221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decision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037222" y="265176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48118" y="2651760"/>
            <a:ext cx="1995221" cy="777240"/>
          </a:xfrm>
          <a:prstGeom prst="roundRect">
            <a:avLst>
              <a:gd name="adj" fmla="val 9412"/>
            </a:avLst>
          </a:prstGeom>
          <a:solidFill>
            <a:srgbClr val="EEF3FB"/>
          </a:solidFill>
          <a:ln w="9525">
            <a:solidFill>
              <a:srgbClr val="D3DF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48118" y="2651760"/>
            <a:ext cx="1995221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288475" y="265176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99371" y="2651760"/>
            <a:ext cx="1995221" cy="777240"/>
          </a:xfrm>
          <a:prstGeom prst="roundRect">
            <a:avLst>
              <a:gd name="adj" fmla="val 9412"/>
            </a:avLst>
          </a:prstGeom>
          <a:solidFill>
            <a:srgbClr val="EEF3FB"/>
          </a:solidFill>
          <a:ln w="9525">
            <a:solidFill>
              <a:srgbClr val="D3DF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99371" y="2651760"/>
            <a:ext cx="1995221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79476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output is a decision paper for a gate: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of go / no-go / go-with-conditions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together with a validated scope outline, cost and benefit estimate, capacity view, key risks and a proposed delivery approach. If the decision is “go”, the study's content flows directly into the project charter — the project does not start from a blank page.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expectations are honest: at this stage a cost estimate of ±30–50 % is normal and acceptable. The point is not precision — it is that all relevant dimensions have been examined and the decision is taken consciously.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dimensions a study examines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practice (the classic TELOS model, extended by organisational and capacity views):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57400"/>
          <a:ext cx="1100023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741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/ strategic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problem does this solve, how does it link to strategy, what are the benefits and the options — including “do nothing”?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it be built and integrated with reasonable risk? Does it fit the architecture?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total cost of ownership — including run costs after delivery — and does the benefit justify it?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/ organisational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it change for processes and people, and is the organisation ready to absorb it?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&amp; resources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the internal experts, IT capacity and business involvement actually available in the required period?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/ compliance /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the regulatory implications and the key risks, and can they be managed?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&amp; 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timeline realistic, what does it depend on, and what delivery model fits?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8638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Anchoring in recognised standards — and what a study is not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91640"/>
            <a:ext cx="5271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STANDARDS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5271516" cy="1097280"/>
          </a:xfrm>
          <a:prstGeom prst="roundRect">
            <a:avLst>
              <a:gd name="adj" fmla="val 5833"/>
            </a:avLst>
          </a:prstGeom>
          <a:solidFill>
            <a:srgbClr val="EEF3FB"/>
          </a:solidFill>
          <a:ln w="9525">
            <a:solidFill>
              <a:srgbClr val="DCE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12848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Stage-Gate® (R. G. Cooper)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is an investment decision about the next tranche of money; the feasibility gate is the last low-cost point to stop or redirect an initiative.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3337560"/>
            <a:ext cx="5271516" cy="1097280"/>
          </a:xfrm>
          <a:prstGeom prst="roundRect">
            <a:avLst>
              <a:gd name="adj" fmla="val 5833"/>
            </a:avLst>
          </a:prstGeom>
          <a:solidFill>
            <a:srgbClr val="EEF3FB"/>
          </a:solidFill>
          <a:ln w="9525">
            <a:solidFill>
              <a:srgbClr val="DCE6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447288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“Starting Up a Project” produces an outline business case that must pass a gate before initiation is even funded; feasibility work is deliberately separated from delivery.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4572000"/>
            <a:ext cx="5271516" cy="1097280"/>
          </a:xfrm>
          <a:prstGeom prst="roundRect">
            <a:avLst>
              <a:gd name="adj" fmla="val 5833"/>
            </a:avLst>
          </a:prstGeom>
          <a:solidFill>
            <a:srgbClr val="EEF3FB"/>
          </a:solidFill>
          <a:ln w="9525">
            <a:solidFill>
              <a:srgbClr val="DCE6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681728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/ PMBOK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business case development and benefits analysis in the pre-project phase, owned by the sponsor, as the basis for project authorisation.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23076" y="1691640"/>
            <a:ext cx="5271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1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FEASIBILITY STUDY IS NOT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23076" y="1737360"/>
            <a:ext cx="914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3" name="Text 11"/>
          <p:cNvSpPr txBox="1"/>
          <p:nvPr/>
        </p:nvSpPr>
        <p:spPr>
          <a:xfrm>
            <a:off x="6323076" y="2103120"/>
            <a:ext cx="527151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detailed analysis or specification — </a:t>
            </a:r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belongs to the project itself; the study stays at decision-making depth.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vendor selection — </a:t>
            </a:r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outline sourcing options, but procurement is a separate step after approval.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alibi — </a:t>
            </a:r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have a study, so we proceed” defeats the purpose; a no or a not-yet is a legitimate, respected outcome.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one-size ritual — </a:t>
            </a:r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depth scales with the size and risk of the initiative; small initiatives get a light version, not an exemption.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2026-08-27T13:00:37Z</dcterms:created>
  <dcterms:modified xsi:type="dcterms:W3CDTF">2026-08-27T13:00:37Z</dcterms:modified>
</cp:coreProperties>
</file>